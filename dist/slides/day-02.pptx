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</a:t>
            </a:r>
          </a:p>
          <a:p/>
          <a:p>
            <a:r>
              <a:t>Visual: Minimal typographic cover</a:t>
            </a:r>
          </a:p>
          <a:p/>
          <a:p>
            <a:r>
              <a:t>Connect the session to yesterday’s data-quality decisions. Allow interpretation before introducing model vocabulary.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</a:t>
            </a:r>
          </a:p>
          <a:p/>
          <a:p>
            <a:r>
              <a:t>Visual: Editable input/outcome comparison</a:t>
            </a:r>
          </a:p>
          <a:p/>
          <a:p>
            <a:r>
              <a:t>Every feature must exist when the prediction is made. Actual arrival time would leak the outcome.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</a:t>
            </a:r>
          </a:p>
          <a:p/>
          <a:p>
            <a:r>
              <a:t>Visual: Three-row comparison table with operational examples</a:t>
            </a:r>
          </a:p>
          <a:p/>
          <a:p>
            <a:r>
              <a:t>Use duration, delayed status and route groups as examples. Keep classification and clustering clearly distinct.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</a:t>
            </a:r>
          </a:p>
          <a:p/>
          <a:p>
            <a:r>
              <a:t>Visual: Editable split diagram with 300/100 labels</a:t>
            </a:r>
          </a:p>
          <a:p/>
          <a:p>
            <a:r>
              <a:t>The random split is suitable for these independent synthetic examples. Real chronological or grouped data may require different splits.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</a:t>
            </a:r>
          </a:p>
          <a:p/>
          <a:p>
            <a:r>
              <a:t>Visual: Compact editable pipeline diagram</a:t>
            </a:r>
          </a:p>
          <a:p/>
          <a:p>
            <a:r>
              <a:t>Explain fit versus transform. Fitting preprocessing on the entire table allows held-out information to influence development.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</a:t>
            </a:r>
          </a:p>
          <a:p/>
          <a:p>
            <a:r>
              <a:t>Visual: Editable calculation using three values</a:t>
            </a:r>
          </a:p>
          <a:p/>
          <a:p>
            <a:r>
              <a:t>MAE is an average in target units. It is not a guarantee that every future error is within the average.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</a:t>
            </a:r>
          </a:p>
          <a:p/>
          <a:p>
            <a:r>
              <a:t>Visual: Large task instructions</a:t>
            </a:r>
          </a:p>
          <a:p/>
          <a:p>
            <a:r>
              <a:t>Pairs reproduce the evaluation rather than typing a model from scratch. Ask why a simple baseline is necessary.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</a:t>
            </a:r>
          </a:p>
          <a:p/>
          <a:p>
            <a:r>
              <a:t>Visual: Editable two-bar chart with a zero baseline and minute units</a:t>
            </a:r>
          </a:p>
          <a:p/>
          <a:p>
            <a:r>
              <a:t>The model improves this specific evaluation. Do not generalise its error rate to actual delivery operations.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</a:t>
            </a:r>
          </a:p>
          <a:p/>
          <a:p>
            <a:r>
              <a:t>Visual: Plain break slide</a:t>
            </a:r>
          </a:p>
          <a:p/>
          <a:p>
            <a:r>
              <a:t>State the return time. Next we classify delays.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</a:t>
            </a:r>
          </a:p>
          <a:p/>
          <a:p>
            <a:r>
              <a:t>Visual: Editable confusion matrix [[55,2],[9,34]] with clear row/column labels</a:t>
            </a:r>
          </a:p>
          <a:p/>
          <a:p>
            <a:r>
              <a:t>Explain all four cells. There are 9 missed delays and 2 false alarms in the recorded run.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</a:t>
            </a:r>
          </a:p>
          <a:p/>
          <a:p>
            <a:r>
              <a:t>Visual: Two simple fraction calculations</a:t>
            </a:r>
          </a:p>
          <a:p/>
          <a:p>
            <a:r>
              <a:t>These figures refer to the delayed class in the synthetic test. Accuracy alone can conceal missed delays.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</a:t>
            </a:r>
          </a:p>
          <a:p/>
          <a:p>
            <a:r>
              <a:t>Visual: Editable conceptual tree with clearly illustrative labels</a:t>
            </a:r>
          </a:p>
          <a:p/>
          <a:p>
            <a:r>
              <a:t>A more complex model can fit noise. Forests do not guarantee better results on every task.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</a:t>
            </a:r>
          </a:p>
          <a:p/>
          <a:p>
            <a:r>
              <a:t>Visual: Short ordered list</a:t>
            </a:r>
          </a:p>
          <a:p/>
          <a:p>
            <a:r>
              <a:t>The notebook compares logistic regression, a tree and forests. The best validation score can be optimistic because it supports selection.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</a:t>
            </a:r>
          </a:p>
          <a:p/>
          <a:p>
            <a:r>
              <a:t>Visual: Task slide with the relevant notebook section</a:t>
            </a:r>
          </a:p>
          <a:p/>
          <a:p>
            <a:r>
              <a:t>Ask learners to distinguish model selection from final evaluation. Keep threshold experiments off the final test set.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</a:t>
            </a:r>
          </a:p>
          <a:p/>
          <a:p>
            <a:r>
              <a:t>Visual: Plain break slide</a:t>
            </a:r>
          </a:p>
          <a:p/>
          <a:p>
            <a:r>
              <a:t>Give the return time. The final block explores groups and dimensionality.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</a:t>
            </a:r>
          </a:p>
          <a:p/>
          <a:p>
            <a:r>
              <a:t>Visual: Illustrative cluster plot labelled conceptual</a:t>
            </a:r>
          </a:p>
          <a:p/>
          <a:p>
            <a:r>
              <a:t>No target labels define these groups. Business meaning requires further validation.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</a:t>
            </a:r>
          </a:p>
          <a:p/>
          <a:p>
            <a:r>
              <a:t>Visual: Editable two-part bar: 53.1% retained, 46.9% omitted</a:t>
            </a:r>
          </a:p>
          <a:p/>
          <a:p>
            <a:r>
              <a:t>The values apply to the standardised synthetic training features. Explain the loss of information when compressing two dimensions to one.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</a:t>
            </a:r>
          </a:p>
          <a:p/>
          <a:p>
            <a:r>
              <a:t>Visual: Numbered instructions</a:t>
            </a:r>
          </a:p>
          <a:p/>
          <a:p>
            <a:r>
              <a:t>Use the worked solution when a pair is blocked. Include the short clustering/PCA walkthrough within this block.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</a:t>
            </a:r>
          </a:p>
          <a:p/>
          <a:p>
            <a:r>
              <a:t>Visual: Three discussion questions</a:t>
            </a:r>
          </a:p>
          <a:p/>
          <a:p>
            <a:r>
              <a:t>Use the answer key to correct misunderstandings. Link tomorrow’s chronological split to today’s evaluation principles.</a:t>
            </a:r>
          </a:p>
          <a:p/>
          <a:p>
            <a:r>
              <a:t>Pause for Arabic interpretation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800"/>
              </a:spcAft>
            </a:pPr>
            <a:r>
              <a:rPr sz="4600" b="1">
                <a:solidFill>
                  <a:srgbClr val="14213D"/>
                </a:solidFill>
                <a:latin typeface="Arial"/>
              </a:rPr>
              <a:t>Machine Learning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Day 2</a:t>
            </a:r>
          </a:p>
          <a:p>
            <a:pPr algn="l">
              <a:spcAft>
                <a:spcPts val="600"/>
              </a:spcAft>
            </a:pPr>
            <a:r>
              <a:rPr sz="2600" b="0">
                <a:solidFill>
                  <a:srgbClr val="5A6478"/>
                </a:solidFill>
                <a:latin typeface="Arial"/>
              </a:rPr>
              <a:t>Prediction and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965960"/>
            <a:ext cx="292608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The route prediction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Predict duration before departure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Inputs: planned distance and stops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Outcome: actual duration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input/outcome comparison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Learning tasks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Regression predicts a number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Classification predicts a category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Clustering groups similar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Three-row comparison table with operational examples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Training, validation and test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400 synthetic routes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300 training rows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100 final-test rows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Cross-validation uses training rows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split diagram with 300/100 labels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Preprocessing inside 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Training folds determine imputation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Validation folds receive the fitted transformation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The final test stays separate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Compact editable pipeline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Mean absolute error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Absolute errors: 5, 10, 15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MAE: 10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Each prediction can have a different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calculation using three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A: Regression and baseline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Open day-02-machine-learning/student.ipynb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sections 1–2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Explain both MAEs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Large task instructions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Regression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Baseline MAE: 24.34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Model MAE: 8.43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Synthetic final-test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two-bar chart with a zero baseline and minute units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Classification errors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Rows: actual class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Columns: predicted class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Class 1 means delayed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confusion matrix [[55,2],[9,34]] with clear row/column labels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Precision and recall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Precision: 34 / 36 = 94.4%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Recall: 34 / 43 = 79.1%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Different errors carry different costs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Two simple fraction calculations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Trees and random forests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 tree uses successive decisions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Depth controls complexity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A forest combines randomised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conceptual tree with clearly illustrative labels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Validation and hyperparameters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candidates on training folds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Tune a small parameter grid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Select before final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Short ordered list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Lab B: Error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45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Run section 3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Read the confusion matrix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Explain the cost of a missed delay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Task slide with the relevant notebook section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</a:pPr>
            <a:r>
              <a:rPr sz="4000" b="1">
                <a:solidFill>
                  <a:srgbClr val="5A6478"/>
                </a:solidFill>
                <a:latin typeface="Arial"/>
              </a:rPr>
              <a:t>Break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14213D"/>
                </a:solidFill>
                <a:latin typeface="Arial"/>
              </a:rPr>
              <a:t>15 minutes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Clustering and scaling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K-means groups observations by distance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Feature units affect distance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k = 3 is a demonstration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Illustrative cluster plot labelled conceptual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Principal component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PCA summarises directions of variation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One component retains 53.1% in this example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Retained variation differs from predictive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Editable two-part bar: 53.1% retained, 46.9% omitted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Pair challenge: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50 minutes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Explore clustering and PCA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Compare tree depths on training folds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Report one result and one limitation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Numbered instructions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4213D"/>
                </a:solidFill>
                <a:latin typeface="Arial"/>
              </a:rPr>
              <a:t>Day 2 review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325880"/>
            <a:ext cx="1645920" cy="381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4577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Which inputs leak the outcome?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Why keep the test separate?</a:t>
            </a:r>
          </a:p>
          <a:p>
            <a:pPr algn="l">
              <a:spcAft>
                <a:spcPts val="1400"/>
              </a:spcAft>
            </a:pPr>
            <a:r>
              <a:rPr sz="2600" b="0">
                <a:solidFill>
                  <a:srgbClr val="14213D"/>
                </a:solidFill>
                <a:latin typeface="Arial"/>
              </a:rPr>
              <a:t>Which error matters most to the decision?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663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766E"/>
                </a:solidFill>
                <a:latin typeface="Arial"/>
              </a:rPr>
              <a:t>[ VISUAL TO ADD ]  Three discussion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