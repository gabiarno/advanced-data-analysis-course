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</a:t>
            </a:r>
          </a:p>
          <a:p/>
          <a:p>
            <a:r>
              <a:t>Visual: Minimal typographic cover</a:t>
            </a:r>
          </a:p>
          <a:p/>
          <a:p>
            <a:r>
              <a:t>Explain that forecasting and NLP are separate applications today. Both require appropriate evaluation.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</a:t>
            </a:r>
          </a:p>
          <a:p/>
          <a:p>
            <a:r>
              <a:t>Visual: Editable chronological split diagram</a:t>
            </a:r>
          </a:p>
          <a:p/>
          <a:p>
            <a:r>
              <a:t>All observations are synthetic. Training ends 1 July 2026 and the test begins 2 July 2026.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</a:t>
            </a:r>
          </a:p>
          <a:p/>
          <a:p>
            <a:r>
              <a:t>Visual: Illustrative trend and seasonal sketch labelled conceptual</a:t>
            </a:r>
          </a:p>
          <a:p/>
          <a:p>
            <a:r>
              <a:t>The seven-day pattern comes from the teaching generator. A lag correlation alone does not prove seasonality.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</a:t>
            </a:r>
          </a:p>
          <a:p/>
          <a:p>
            <a:r>
              <a:t>Visual: Editable comparison table</a:t>
            </a:r>
          </a:p>
          <a:p/>
          <a:p>
            <a:r>
              <a:t>Both methods use only training observations. A simple baseline can be competitive.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</a:t>
            </a:r>
          </a:p>
          <a:p/>
          <a:p>
            <a:r>
              <a:t>Visual: Large plain-language labels</a:t>
            </a:r>
          </a:p>
          <a:p/>
          <a:p>
            <a:r>
              <a:t>The fixed ARIMA(1,1,1) is a demonstration, not a tuned optimum. It does not explicitly model weekly seasonality.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</a:t>
            </a:r>
          </a:p>
          <a:p/>
          <a:p>
            <a:r>
              <a:t>Visual: Task slide</a:t>
            </a:r>
          </a:p>
          <a:p/>
          <a:p>
            <a:r>
              <a:t>Mark the training/test boundary before executing models. Use saved results if statsmodels setup is unavailable.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</a:t>
            </a:r>
          </a:p>
          <a:p/>
          <a:p>
            <a:r>
              <a:t>Visual: Editable bar chart with exact values</a:t>
            </a:r>
          </a:p>
          <a:p/>
          <a:p>
            <a:r>
              <a:t>The weekly baseline wins on this one synthetic test window. This illustrates why complexity does not guarantee a better forecast.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</a:t>
            </a:r>
          </a:p>
          <a:p/>
          <a:p>
            <a:r>
              <a:t>Visual: Short text beside an illustrative interval labelled conceptual</a:t>
            </a:r>
          </a:p>
          <a:p/>
          <a:p>
            <a:r>
              <a:t>Avoid calling a model interval a guarantee. Real work should evaluate multiple rolling origins and monitor changes.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</a:t>
            </a:r>
          </a:p>
          <a:p/>
          <a:p>
            <a:r>
              <a:t>Visual: Plain break slide</a:t>
            </a:r>
          </a:p>
          <a:p/>
          <a:p>
            <a:r>
              <a:t>State the return time. The next block is a separate text-classification application.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</a:t>
            </a:r>
          </a:p>
          <a:p/>
          <a:p>
            <a:r>
              <a:t>Visual: Editable table with one delivery and one billing example</a:t>
            </a:r>
          </a:p>
          <a:p/>
          <a:p>
            <a:r>
              <a:t>These are English toy messages. The task is topic categorisation rather than sentiment analysis.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</a:t>
            </a:r>
          </a:p>
          <a:p/>
          <a:p>
            <a:r>
              <a:t>Visual: Compact editable process diagram</a:t>
            </a:r>
          </a:p>
          <a:p/>
          <a:p>
            <a:r>
              <a:t>The vectoriser belongs inside the training pipeline. The model does not understand sentences in the human sense.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</a:t>
            </a:r>
          </a:p>
          <a:p/>
          <a:p>
            <a:r>
              <a:t>Visual: Task slide</a:t>
            </a:r>
          </a:p>
          <a:p/>
          <a:p>
            <a:r>
              <a:t>Ask pairs to identify words that make this authored example easy. A forced category can conceal ambiguity.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</a:t>
            </a:r>
          </a:p>
          <a:p/>
          <a:p>
            <a:r>
              <a:t>Visual: Large 8/8 beside two limitations</a:t>
            </a:r>
          </a:p>
          <a:p/>
          <a:p>
            <a:r>
              <a:t>The result does not establish production accuracy. It provides no evidence about Arabic-language performance.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</a:t>
            </a:r>
          </a:p>
          <a:p/>
          <a:p>
            <a:r>
              <a:t>Visual: Short checklist</a:t>
            </a:r>
          </a:p>
          <a:p/>
          <a:p>
            <a:r>
              <a:t>The interpreter supports classroom understanding. Translation of instructions does not validate an Arabic NLP model.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</a:t>
            </a:r>
          </a:p>
          <a:p/>
          <a:p>
            <a:r>
              <a:t>Visual: Plain break slide</a:t>
            </a:r>
          </a:p>
          <a:p/>
          <a:p>
            <a:r>
              <a:t>Give the return time. Pairs will design a better evaluation.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</a:t>
            </a:r>
          </a:p>
          <a:p/>
          <a:p>
            <a:r>
              <a:t>Visual: Task slide with 168 development / 14 validation / 28 test diagram</a:t>
            </a:r>
          </a:p>
          <a:p/>
          <a:p>
            <a:r>
              <a:t>The validation split comes only from the original training period. Keep the final test untouched for further selection.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</a:t>
            </a:r>
          </a:p>
          <a:p/>
          <a:p>
            <a:r>
              <a:t>Visual: Three discussion questions</a:t>
            </a:r>
          </a:p>
          <a:p/>
          <a:p>
            <a:r>
              <a:t>Ask each group for an evaluation choice and a limitation. Use the recorded solutions to close the session.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4600" b="1">
                <a:solidFill>
                  <a:srgbClr val="14213D"/>
                </a:solidFill>
                <a:latin typeface="Arial"/>
              </a:rPr>
              <a:t>Time Series and Text Analysis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5A6478"/>
                </a:solidFill>
                <a:latin typeface="Arial"/>
              </a:rPr>
              <a:t>Day 3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5A6478"/>
                </a:solidFill>
                <a:latin typeface="Arial"/>
              </a:rPr>
              <a:t>Two practical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65960"/>
            <a:ext cx="2926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Time order and forecasting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210 daily observations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182 training observations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28 final-test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chronological split diagram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Trend and seasonality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Trend describes sustained movement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Seasonality repeats at a known interval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This example has a seven-day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Illustrative trend and seasonal sketch labelled conceptual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Forecast baselines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Last-value forecast repeats the latest value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Weekly-repeat forecast repeats the last seven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comparison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ARIMA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p: autoregressive terms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d: differencing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q: moving-average error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Large plain-language labels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Lab A: Forecast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40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Open day-03-time-series-nlp/student.ipynb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Run sections 1–3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Compare three predeclared forecasts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Task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Forecast errors in the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Last value: 22.38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Weekly repeat: 5.53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ARIMA: 22.11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MAE in demand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bar chart with exact values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Forecast uncertainty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Intervals depend on model assumptions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One test window gives limited evidence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Future observations remain unavailable during 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Short text beside an illustrative interval labelled conceptual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4000" b="1">
                <a:solidFill>
                  <a:srgbClr val="5A6478"/>
                </a:solidFill>
                <a:latin typeface="Arial"/>
              </a:rPr>
              <a:t>Break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14213D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Message categorisation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Categories: delivery and billing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16 training messages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8 authored test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table with one delivery and one billing example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Text representation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TF-IDF converts text into numeric features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Logistic regression learns category associations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Training text defines the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Compact editable process diagram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Lab B: Text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45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Run section 4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Compare actual and predicted labels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Discuss ambiguous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Task slide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The limits of a perfect toy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8 of 8 test messages correct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Tiny authored sample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Shared vocabulary makes the task easy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Large 8/8 beside two limitations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Arabic-language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Representative labelled Arabic messages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Suitable language processing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Review of ambiguity and domain variation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Short checklist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4000" b="1">
                <a:solidFill>
                  <a:srgbClr val="5A6478"/>
                </a:solidFill>
                <a:latin typeface="Arial"/>
              </a:rPr>
              <a:t>Break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14213D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Pair challenge: Development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50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Reserve the last 14 training days for validation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Compare baselines without using final-test data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List requirements for Arabic message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Task slide with 168 development / 14 validation / 28 test diagram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Day 3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Why preserve chronology?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When can a baseline win?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What does the English text test fail to establish?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Three discussion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