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</a:t>
            </a:r>
          </a:p>
          <a:p/>
          <a:p>
            <a:r>
              <a:t>Visual: Minimal typographic cover, ample whitespace</a:t>
            </a:r>
          </a:p>
          <a:p/>
          <a:p>
            <a:r>
              <a:t>Introduce the practical course. Pause for Arabic interpretation before moving 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  <a:p/>
          <a:p>
            <a:r>
              <a:t>Visual: One large question beside a small sample data table</a:t>
            </a:r>
          </a:p>
          <a:p/>
          <a:p>
            <a:r>
              <a:t>The aim is a defensible description of data. Explain that all course examples are synthetic.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  <a:p/>
          <a:p>
            <a:r>
              <a:t>Visual: Simple numbered instructions</a:t>
            </a:r>
          </a:p>
          <a:p/>
          <a:p>
            <a:r>
              <a:t>There are 20 participants. Demonstrate a short step, allow interpretation, then invite pairs to repeat it.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  <a:p/>
          <a:p>
            <a:r>
              <a:t>Visual: Editable table with columns order_id, channel, units, unit_price and two illustrative labelled rows</a:t>
            </a:r>
          </a:p>
          <a:p/>
          <a:p>
            <a:r>
              <a:t>Open student.ipynb. Ask participants to identify the observation and explain why a repeated customer would not necessarily mean a duplicate order.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  <a:p/>
          <a:p>
            <a:r>
              <a:t>Visual: Three large readable code lines with plain-language annotations</a:t>
            </a:r>
          </a:p>
          <a:p/>
          <a:p>
            <a:r>
              <a:t>Explain brackets and comparisons slowly. Keep the code visible until interpretation finishes.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  <a:p/>
          <a:p>
            <a:r>
              <a:t>Visual: Four aligned rows, no decorative dashboard</a:t>
            </a:r>
          </a:p>
          <a:p/>
          <a:p>
            <a:r>
              <a:t>These are counts in the raw synthetic dataset. Ask which problems require a business rule before changing anything.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  <a:p/>
          <a:p>
            <a:r>
              <a:t>Visual: Large task instructions with the filename on its own line</a:t>
            </a:r>
          </a:p>
          <a:p/>
          <a:p>
            <a:r>
              <a:t>Use TASK_CARDS.md activity A. Check that pairs find 122 rows and distinguish invalid negative units from a valid bulk order.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  <a:p/>
          <a:p>
            <a:r>
              <a:t>Visual: Two-column decision/reason table</a:t>
            </a:r>
          </a:p>
          <a:p/>
          <a:p>
            <a:r>
              <a:t>The exercise defines returns in a separate table, so negative units are invalid here. Missing price does not mean a free order.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  <a:p/>
          <a:p>
            <a:r>
              <a:t>Visual: Editable five-value dot plot or simple table with the two statistics</a:t>
            </a:r>
          </a:p>
          <a:p/>
          <a:p>
            <a:r>
              <a:t>Ask which statistic changes most when the large observation changes. Neither measure is universally better.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  <a:p/>
          <a:p>
            <a:r>
              <a:t>Visual: Distribution sketch explicitly labelled illustrative</a:t>
            </a:r>
          </a:p>
          <a:p/>
          <a:p>
            <a:r>
              <a:t>Explain that an unusual value may be valid. The 80-unit bulk order stays in the main report.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  <a:p/>
          <a:p>
            <a:r>
              <a:t>Visual: Quiet typographic break slide</a:t>
            </a:r>
          </a:p>
          <a:p/>
          <a:p>
            <a:r>
              <a:t>Confirm the return time aloud. The provisional daily schedule includes this break.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  <a:p/>
          <a:p>
            <a:r>
              <a:t>Visual: Numbered instructions with room for a demonstration</a:t>
            </a:r>
          </a:p>
          <a:p/>
          <a:p>
            <a:r>
              <a:t>Pairs should reach 119 valid orders and 116 priced orders. Ask each pair to explain one cleaning choice.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  <a:p/>
          <a:p>
            <a:r>
              <a:t>Visual: Large figures with a visible qualifier: priced orders only</a:t>
            </a:r>
          </a:p>
          <a:p/>
          <a:p>
            <a:r>
              <a:t>Three valid orders have unknown prices. The recorded revenue does not represent a complete revenue total for every valid order.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</a:t>
            </a:r>
          </a:p>
          <a:p/>
          <a:p>
            <a:r>
              <a:t>Visual: Editable horizontal bar chart with exact values and EUR units</a:t>
            </a:r>
          </a:p>
          <a:p/>
          <a:p>
            <a:r>
              <a:t>Synthetic data, priced orders only. A larger total may reflect more orders or higher order values and does not establish causality.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</a:t>
            </a:r>
          </a:p>
          <a:p/>
          <a:p>
            <a:r>
              <a:t>Visual: Formula and one short explanatory annotation</a:t>
            </a:r>
          </a:p>
          <a:p/>
          <a:p>
            <a:r>
              <a:t>Avoid treating correlation as a reason to change commercial strategy. Invite participants to name a possible alternative explanation.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</a:t>
            </a:r>
          </a:p>
          <a:p/>
          <a:p>
            <a:r>
              <a:t>Visual: Quiet typographic break slide</a:t>
            </a:r>
          </a:p>
          <a:p/>
          <a:p>
            <a:r>
              <a:t>Give the return time and remind pairs which notebook they need next. Pause for interpretation.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</a:t>
            </a:r>
          </a:p>
          <a:p/>
          <a:p>
            <a:r>
              <a:t>Visual: A simple three-line response template</a:t>
            </a:r>
          </a:p>
          <a:p/>
          <a:p>
            <a:r>
              <a:t>Use Task C. Combine pairs into five groups for reporting, with one finding per group.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</a:t>
            </a:r>
          </a:p>
          <a:p/>
          <a:p>
            <a:r>
              <a:t>Visual: Three spaced discussion questions</a:t>
            </a:r>
          </a:p>
          <a:p/>
          <a:p>
            <a:r>
              <a:t>Use the answer key after participants respond. Tomorrow we will predict outcomes and evaluate on unseen examples.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4600" b="1">
                <a:solidFill>
                  <a:srgbClr val="14213D"/>
                </a:solidFill>
                <a:latin typeface="Arial"/>
              </a:rPr>
              <a:t>Exploratory Data Analysis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Day 1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Advanced Data Analysis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2926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Today’s practical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Inspect a table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Explain cleaning choices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Report a qualified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One large question beside a small sample data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Working in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10 pairs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Swap keyboard and explanation roles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Ask for help when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Simple numbered instructions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The order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One row represents one order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Columns describe date, channel, units and price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122 raw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table with columns order_id, channel, units, unit_price and two illustrative labelled 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Python operations for a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df['units'] selects a column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df[df['units'] &gt; 0] filters rows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groupby combines records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Three large readable code lines with plain-language annotations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A data-quality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2 exact duplicate records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3 missing prices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2 missing channels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1 non-positive quantity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Four aligned rows, no decorative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A: Data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Open day-01-eda/student.ipynb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Count rows, duplicates and missing values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Explain one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Large task instructions with the filename on its own 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Cleaning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Remove documented export duplicates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Exclude the invalid quantity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Keep unknown prices missing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Label missing channels Unknown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Two-column decision/reason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Mean and median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Values: 10, 12, 13, 15, 100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Mean: 30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Median: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five-value dot plot or simple table with the two statistics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Dispersion and unusual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Standard deviation describes spread around the mean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IQR describes the middle half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 flag requests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Distribution sketch explicitly labelled illustrative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B: Descriptive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45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Clean with documented rules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Calculate revenue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Create one labelled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Numbered instructions with room for a demonstration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Revenue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119 valid orders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116 orders with known revenue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Recorded revenue: EUR 10,210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Large figures with a visible qualifier: priced orders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Recorded revenue by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Store: EUR 6,310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Online: EUR 3,700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Unknown: EUR 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horizontal bar chart with exact values and EUR units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Association and causation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Revenue equals units multiplied by price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The units–revenue association partly follows from this formula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 causal claim requires more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Formula and one short explanatory annotation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Pair challenge: Management briefing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50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channels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Review the bulk order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Write a finding, a limitation and a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A simple three-line response template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Day 1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Why does missing differ from zero?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When can an unusual order remain valid?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What limits our revenue comparison?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Three spaced discussion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