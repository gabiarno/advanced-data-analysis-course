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</a:t>
            </a:r>
          </a:p>
          <a:p/>
          <a:p>
            <a:r>
              <a:t>Visual: Minimal typographic cover</a:t>
            </a:r>
          </a:p>
          <a:p/>
          <a:p>
            <a:r>
              <a:t>Introduce an inspection example rather than beginning with equations. All data and scenarios are synthetic.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</a:t>
            </a:r>
          </a:p>
          <a:p/>
          <a:p>
            <a:r>
              <a:t>Visual: Editable count illustration or a simple 8/100 fraction</a:t>
            </a:r>
          </a:p>
          <a:p/>
          <a:p>
            <a:r>
              <a:t>Distinguish a probability parameter from a count. Independence and representativeness are modelling assumptions.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</a:t>
            </a:r>
          </a:p>
          <a:p/>
          <a:p>
            <a:r>
              <a:t>Visual: Compact editable Bayes relationship diagram</a:t>
            </a:r>
          </a:p>
          <a:p/>
          <a:p>
            <a:r>
              <a:t>Posterior is proportional to likelihood times prior. Explain each term separately, allowing interpretation.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</a:t>
            </a:r>
          </a:p>
          <a:p/>
          <a:p>
            <a:r>
              <a:t>Visual: Editable equation with clearly labelled terms</a:t>
            </a:r>
          </a:p>
          <a:p/>
          <a:p>
            <a:r>
              <a:t>The prior mean is 10% and the posterior mean is approximately 8.33%. The prior parameters are not automatically literal historical counts.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</a:t>
            </a:r>
          </a:p>
          <a:p/>
          <a:p>
            <a:r>
              <a:t>Visual: Editable interval graphic with exact endpoints</a:t>
            </a:r>
          </a:p>
          <a:p/>
          <a:p>
            <a:r>
              <a:t>Interpret these statements under the model and prior. The credible interval concerns p, not the count in the next batch.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</a:t>
            </a:r>
          </a:p>
          <a:p/>
          <a:p>
            <a:r>
              <a:t>Visual: Task slide</a:t>
            </a:r>
          </a:p>
          <a:p/>
          <a:p>
            <a:r>
              <a:t>Pairs calculate and explain changes to means and interval widths. A larger comparable sample narrows uncertainty in this example.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</a:t>
            </a:r>
          </a:p>
          <a:p/>
          <a:p>
            <a:r>
              <a:t>Visual: Plain break slide</a:t>
            </a:r>
          </a:p>
          <a:p/>
          <a:p>
            <a:r>
              <a:t>Give the return time. The next demonstration introduces sampling-based inference.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</a:t>
            </a:r>
          </a:p>
          <a:p/>
          <a:p>
            <a:r>
              <a:t>Visual: Editable branching diagram with accept/stay paths</a:t>
            </a:r>
          </a:p>
          <a:p/>
          <a:p>
            <a:r>
              <a:t>The notebook runs a real MCMC chain. Out-of-range proposals are rejected, and repeated states are legitimate.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</a:t>
            </a:r>
          </a:p>
          <a:p/>
          <a:p>
            <a:r>
              <a:t>Visual: Simple comparison of exact versus sampled estimates</a:t>
            </a:r>
          </a:p>
          <a:p/>
          <a:p>
            <a:r>
              <a:t>MCMC is unnecessary for this basic calculation but useful pedagogically. Do not generalise success in one dimension to complex models.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</a:t>
            </a:r>
          </a:p>
          <a:p/>
          <a:p>
            <a:r>
              <a:t>Visual: Illustrative trace sketch labelled conceptual</a:t>
            </a:r>
          </a:p>
          <a:p/>
          <a:p>
            <a:r>
              <a:t>The recorded lag-1 correlations are around 0.78. Full real-world diagnostics also include R-hat, effective sample size and Monte Carlo error.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</a:t>
            </a:r>
          </a:p>
          <a:p/>
          <a:p>
            <a:r>
              <a:t>Visual: Task slide</a:t>
            </a:r>
          </a:p>
          <a:p/>
          <a:p>
            <a:r>
              <a:t>The small-step extension may move slowly despite high acceptance. Use saved results if runtime becomes a distraction.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</a:t>
            </a:r>
          </a:p>
          <a:p/>
          <a:p>
            <a:r>
              <a:t>Visual: Plain break slide</a:t>
            </a:r>
          </a:p>
          <a:p/>
          <a:p>
            <a:r>
              <a:t>Give the return time. Next we distinguish parameter uncertainty from future outcomes.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</a:t>
            </a:r>
          </a:p>
          <a:p/>
          <a:p>
            <a:r>
              <a:t>Visual: Editable two-stage sampling diagram</a:t>
            </a:r>
          </a:p>
          <a:p/>
          <a:p>
            <a:r>
              <a:t>This represents parameter uncertainty plus variability in a future batch. It differs from simply multiplying credible-interval endpoints by a batch size.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</a:t>
            </a:r>
          </a:p>
          <a:p/>
          <a:p>
            <a:r>
              <a:t>Visual: Large values with clear count units</a:t>
            </a:r>
          </a:p>
          <a:p/>
          <a:p>
            <a:r>
              <a:t>These are simulation outputs for the teaching model. They do not prescribe an operational policy without costs and assumptions.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</a:t>
            </a:r>
          </a:p>
          <a:p/>
          <a:p>
            <a:r>
              <a:t>Visual: Two labelled distribution sketches marked illustrative</a:t>
            </a:r>
          </a:p>
          <a:p/>
          <a:p>
            <a:r>
              <a:t>The notebook uses a simple lognormal model, not a GAN. Similar marginal summaries do not establish privacy or preserve relationships.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</a:t>
            </a:r>
          </a:p>
          <a:p/>
          <a:p>
            <a:r>
              <a:t>Visual: Task slide</a:t>
            </a:r>
          </a:p>
          <a:p/>
          <a:p>
            <a:r>
              <a:t>Use sections 3–4 and the answer key. Groups should state what additional checks a real application needs.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</a:t>
            </a:r>
          </a:p>
          <a:p/>
          <a:p>
            <a:r>
              <a:t>Visual: Three discussion questions</a:t>
            </a:r>
          </a:p>
          <a:p/>
          <a:p>
            <a:r>
              <a:t>Accept plain-language answers before technical vocabulary. Tomorrow the course connects computation with more complex models.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4600" b="1">
                <a:solidFill>
                  <a:srgbClr val="14213D"/>
                </a:solidFill>
                <a:latin typeface="Arial"/>
              </a:rPr>
              <a:t>Bayesian Analysis and Generative Models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5A6478"/>
                </a:solidFill>
                <a:latin typeface="Arial"/>
              </a:rPr>
              <a:t>Day 4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5A6478"/>
                </a:solidFill>
                <a:latin typeface="Arial"/>
              </a:rPr>
              <a:t>Updating uncertainty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65960"/>
            <a:ext cx="2926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The unknown defect probability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 represents a stable defect probability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Inspect 100 items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Observe 8 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count illustration or a simple 8/100 fraction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Prior, likelihood and posterior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Prior: beliefs before current evidence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Likelihood: compatibility of data with parameter values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Posterior: updated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Compact editable Bayes relationship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An exact 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Prior: Beta(2,18)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Data: 8 defects and 92 non-defects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Posterior: Beta(10,110)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equation with clearly labelled terms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Posterior uncertainty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Posterior mean: 8.33%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95% credible interval: 4.10%–13.87%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Probability p &gt; 10%: 23.75%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interval graphic with exact endpoints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Lab A: Prior sensitivity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40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Open day-04-bayesian-generative/student.ipynb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Compare Beta(2,18) with Beta(1,1)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Repeat with 16 defects in 200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Task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000" b="1">
                <a:solidFill>
                  <a:srgbClr val="5A6478"/>
                </a:solidFill>
                <a:latin typeface="Arial"/>
              </a:rPr>
              <a:t>Break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14213D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Metropolis sampling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Propose a nearby probability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Compare posterior densities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Accept the proposal or retain the current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branching diagram with accept/stay paths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Why use an exact reference?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Beta inference has an exact answer here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The exact distribution lets us check sampled estimates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MCMC becomes useful for harder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Simple comparison of exact versus sampled estimates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Chain diagnostics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Compare several starting points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Inspect traces and dependence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High acceptance can still mean slow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Illustrative trace sketch labelled conceptual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Lab B: Chain behaviour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45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Run section 2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Compare chain means with 0.0833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Inspect a tiny proposal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Task 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000" b="1">
                <a:solidFill>
                  <a:srgbClr val="5A6478"/>
                </a:solidFill>
                <a:latin typeface="Arial"/>
              </a:rPr>
              <a:t>Break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14213D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Posterior predictive simulation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Draw p from its posterior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Draw a future defect count given p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Repeat to describe possible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two-stage sampling diagram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The next batch of 100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Mean simulated count: 8.32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Central 95% simulated interval: 2–17 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Large values with clear count units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Synthetic service durations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Fit a positive-duration distribution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Generate new observations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Compare spread and 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Two labelled distribution sketches marked illustrative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Pair challenge: Simulation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50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Run predictive and service-time simulations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Distinguish probability from count intervals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Explain one use and two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Task slide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Day 4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How does evidence update a prior?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Why can MCMC repeat a value?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What can synthetic data fail to preserve?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Three discussion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