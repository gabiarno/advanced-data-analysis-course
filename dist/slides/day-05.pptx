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</a:t>
            </a:r>
          </a:p>
          <a:p/>
          <a:p>
            <a:r>
              <a:t>Visual: Minimal typographic cover</a:t>
            </a:r>
          </a:p>
          <a:p/>
          <a:p>
            <a:r>
              <a:t>Explain the practical focus and the small scale of classroom examples. Distributed concepts do not imply a distributed classroom cluster.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</a:t>
            </a:r>
          </a:p>
          <a:p/>
          <a:p>
            <a:r>
              <a:t>Visual: Two-column needs/costs comparison</a:t>
            </a:r>
          </a:p>
          <a:p/>
          <a:p>
            <a:r>
              <a:t>There is no universal row-count threshold. Small workloads can be faster in a simple local tool.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</a:t>
            </a:r>
          </a:p>
          <a:p/>
          <a:p>
            <a:r>
              <a:t>Visual: Editable partition/reduction diagram</a:t>
            </a:r>
          </a:p>
          <a:p/>
          <a:p>
            <a:r>
              <a:t>Use the six-record exercise. This local demonstration explains the algorithm and does not run Hadoop.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</a:t>
            </a:r>
          </a:p>
          <a:p/>
          <a:p>
            <a:r>
              <a:t>Visual: Editable four-row comparison table</a:t>
            </a:r>
          </a:p>
          <a:p/>
          <a:p>
            <a:r>
              <a:t>Spark can integrate with parts of the Hadoop ecosystem. Keep ecosystem components distinct.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</a:t>
            </a:r>
          </a:p>
          <a:p/>
          <a:p>
            <a:r>
              <a:t>Visual: Compact editable plan with transformation/action labels</a:t>
            </a:r>
          </a:p>
          <a:p/>
          <a:p>
            <a:r>
              <a:t>Our local[2] session uses two local threads. It is not a two-machine cluster or a scalability benchmark.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</a:t>
            </a:r>
          </a:p>
          <a:p/>
          <a:p>
            <a:r>
              <a:t>Visual: Task slide</a:t>
            </a:r>
          </a:p>
          <a:p/>
          <a:p>
            <a:r>
              <a:t>Spark must already be installed. Use the offline activity and recorded outputs if startup fails.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</a:t>
            </a:r>
          </a:p>
          <a:p/>
          <a:p>
            <a:r>
              <a:t>Visual: Editable table with exact counts, totals and means</a:t>
            </a:r>
          </a:p>
          <a:p/>
          <a:p>
            <a:r>
              <a:t>These amounts are synthetic numeric units, not a real business currency. SQL and DataFrame aggregates agree in the recorded run.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</a:t>
            </a:r>
          </a:p>
          <a:p/>
          <a:p>
            <a:r>
              <a:t>Visual: Short explanation with source/result row-count contrast</a:t>
            </a:r>
          </a:p>
          <a:p/>
          <a:p>
            <a:r>
              <a:t>Ask participants why the same API call has different risk for a small result and a very large source. Keep this tied to the demonstrated aggregation.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</a:t>
            </a:r>
          </a:p>
          <a:p/>
          <a:p>
            <a:r>
              <a:t>Visual: Plain break slide</a:t>
            </a:r>
          </a:p>
          <a:p/>
          <a:p>
            <a:r>
              <a:t>State the return time. The next lab fits a Spark model.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</a:t>
            </a:r>
          </a:p>
          <a:p/>
          <a:p>
            <a:r>
              <a:t>Visual: Editable three-stage pipeline diagram</a:t>
            </a:r>
          </a:p>
          <a:p/>
          <a:p>
            <a:r>
              <a:t>Feature assembly does not select features or prevent leakage automatically. The target remains separate.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</a:t>
            </a:r>
          </a:p>
          <a:p/>
          <a:p>
            <a:r>
              <a:t>Visual: Task slide</a:t>
            </a:r>
          </a:p>
          <a:p/>
          <a:p>
            <a:r>
              <a:t>The notebook uses a predetermined split suitable only for this synthetic independent example. Stop the Spark session at the end.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</a:t>
            </a:r>
          </a:p>
          <a:p/>
          <a:p>
            <a:r>
              <a:t>Visual: Editable two-bar chart with units and synthetic-data qualifier</a:t>
            </a:r>
          </a:p>
          <a:p/>
          <a:p>
            <a:r>
              <a:t>Small numerical differences across environments may occur. This verifies a local teaching workflow, not production performance.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</a:t>
            </a:r>
          </a:p>
          <a:p/>
          <a:p>
            <a:r>
              <a:t>Visual: Plain break slide</a:t>
            </a:r>
          </a:p>
          <a:p/>
          <a:p>
            <a:r>
              <a:t>Give the return time. The last block includes a short advanced-model demonstration and assessment.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</a:t>
            </a:r>
          </a:p>
          <a:p/>
          <a:p>
            <a:r>
              <a:t>Visual: Editable network architecture diagram with layer sizes</a:t>
            </a:r>
          </a:p>
          <a:p/>
          <a:p>
            <a:r>
              <a:t>The notebook uses a small multilayer perceptron, not large-scale deep learning. Scaling uses training data.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</a:t>
            </a:r>
          </a:p>
          <a:p/>
          <a:p>
            <a:r>
              <a:t>Visual: Editable two-row comparison with modest emphasis</a:t>
            </a:r>
          </a:p>
          <a:p/>
          <a:p>
            <a:r>
              <a:t>This difference does not prove a general advantage or statistical significance. The architectures were fixed before test evaluation.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</a:t>
            </a:r>
          </a:p>
          <a:p/>
          <a:p>
            <a:r>
              <a:t>Visual: Editable two-model feedback diagram</a:t>
            </a:r>
          </a:p>
          <a:p/>
          <a:p>
            <a:r>
              <a:t>Our actual training loop is a one-dimensional restricted toy. It is not an image GAN or a deep generator.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</a:t>
            </a:r>
          </a:p>
          <a:p/>
          <a:p>
            <a:r>
              <a:t>Visual: Editable comparison table with standard deviation highlighted</a:t>
            </a:r>
          </a:p>
          <a:p/>
          <a:p>
            <a:r>
              <a:t>The mean is close while spread is much too small. Treat this as a useful failure, not successful convergence.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</a:t>
            </a:r>
          </a:p>
          <a:p/>
          <a:p>
            <a:r>
              <a:t>Visual: Task slide pointing to assessments/FINAL_PRACTICAL.md</a:t>
            </a:r>
          </a:p>
          <a:p/>
          <a:p>
            <a:r>
              <a:t>This follows the 10-minute briefing and 20-minute notebook exploration. Use the rubric for formative feedback rather than certification.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</a:t>
            </a:r>
          </a:p>
          <a:p/>
          <a:p>
            <a:r>
              <a:t>Visual: Simple reporting prompt</a:t>
            </a:r>
          </a:p>
          <a:p/>
          <a:p>
            <a:r>
              <a:t>Allow about two minutes of speaking and three minutes for interpretation and feedback per group. Fit reporting into the planned 25 minutes.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</a:t>
            </a:r>
          </a:p>
          <a:p/>
          <a:p>
            <a:r>
              <a:t>Visual: Four concise closing statements</a:t>
            </a:r>
          </a:p>
          <a:p/>
          <a:p>
            <a:r>
              <a:t>Invite each participant to name one method they can explain and one next learning step. Close with the practical limits of the course examples.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4600" b="1">
                <a:solidFill>
                  <a:srgbClr val="14213D"/>
                </a:solidFill>
                <a:latin typeface="Arial"/>
              </a:rPr>
              <a:t>Big Data and Advanced Models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5A6478"/>
                </a:solidFill>
                <a:latin typeface="Arial"/>
              </a:rPr>
              <a:t>Day 5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5A6478"/>
                </a:solidFill>
                <a:latin typeface="Arial"/>
              </a:rPr>
              <a:t>Computation, evaluation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65960"/>
            <a:ext cx="2926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When one machine becomes limiting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Memory and compute constraints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Data arrival rate and format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Coordination and transfer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Two-column needs/costs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Partitioned aggregation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Partition 1: A15, B20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Partition 2: C15, B3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Combined: A15, B23, C15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partition/reduction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Hadoop and Spark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HDFS: distributed storage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YARN: resource management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MapReduce: processing framework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Spark: a separate execution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four-row comparison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Spark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Transformations build an execution plan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Actions request results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Grouping may require a shuffle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Compact editable plan with transformation/action labels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Lab A: DataFrame and 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40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Open day-05-big-data/spark_student.ipynb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Run sections 1–2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aggregation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Task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Aggregation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A: 5,000 orders, 250,000 revenue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B: 5,000 orders, 255,000 revenue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Mean amount: 50 versus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table with exact counts, totals and means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Driver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collect() brings result rows to the driver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A two-row aggregate is small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A huge source table may exhaust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Short explanation with source/result row-count contrast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000" b="1">
                <a:solidFill>
                  <a:srgbClr val="5A6478"/>
                </a:solidFill>
                <a:latin typeface="Arial"/>
              </a:rPr>
              <a:t>Break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14213D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Spark MLlib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Planned distance and stops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VectorAssembler builds a feature vector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Linear regression predicts duration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three-stage pipeline 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Lab B: Spark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45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Run section 3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Check 800 training and 200 test rows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model and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Task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Spark model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Model MAE: about 2.248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Baseline MAE: about 20.227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two-bar chart with units and synthetic-data qualifier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000" b="1">
                <a:solidFill>
                  <a:srgbClr val="5A6478"/>
                </a:solidFill>
                <a:latin typeface="Arial"/>
              </a:rPr>
              <a:t>Break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14213D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A small neural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Hidden layers: 16 and 8 units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Nonlinear transformations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Training loss differs from test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network architecture diagram with layer sizes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Neural-network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Linear test accuracy: 82.7%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Neural-network test accuracy: 84.7%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One synthetic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two-row comparison with modest emphasis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Adversarial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Generator creates candidate samples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Discriminator distinguishes reference and generated samples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Both update during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two-model feedback diagram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The generator misses variability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Target mean / SD: 2 / 0.6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Generated mean / SD: about 2.10 / 0.287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comparison table with standard deviation highlighted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Final practical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20 minutes in pairs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Choose methods and evaluation strategies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Interpret two results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Correct three deployment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Task slide pointing to assessments/FINAL_PRACTICAL.md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Group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Five groups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One recommendation per group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Include evidence and a limitation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Simple reporting prompt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Course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Data quality affects conclusions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Evaluation must match intended use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Complexity needs evidence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Uncertainty remains part of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Four concise closing statements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